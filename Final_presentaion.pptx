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49"/>
      <p:bold r:id="rId50"/>
      <p:italic r:id="rId51"/>
      <p:boldItalic r:id="rId5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2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bbda0c4c9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bbda0c4c9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fc90ccc5a_0_18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fc90ccc5a_0_18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bbda0c4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bbda0c4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bda0c4c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bbda0c4c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fc90ccc5a_0_1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fc90ccc5a_0_1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fc90ccc5a_0_1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fc90ccc5a_0_1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fc90ccc5a_0_1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fc90ccc5a_0_1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bbda0c4c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bbda0c4c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bbda0c4c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bbda0c4c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bbda0c4c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bbda0c4c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bbda0c4c9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bbda0c4c9_2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bbda0c4c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bbda0c4c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cb81e331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cb81e331d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027218bd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027218bd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bbda0c4c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bbda0c4c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bbda0c4c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bbda0c4c9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cb81e33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6cb81e33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027218bd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027218bd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bbda0c4c9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9bbda0c4c9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cb81e331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cb81e331d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cb81e331d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6cb81e331d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cb81e331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6cb81e331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cb81e331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6cb81e331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027218bd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027218bd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نشرح عن شو بدنا نساوي بالרכיב مع المايكرو كونترولر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dd1e3ba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bdd1e3ba7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dd1e3ba7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dd1e3ba7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dd1e3ba7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dd1e3ba7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dd1e3ba7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bdd1e3ba7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dd1e3ba7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bdd1e3ba7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dd1e3ba7a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dd1e3ba7a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dd1e3ba7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dd1e3ba7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dd1e3ba7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bdd1e3ba7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dd1e3ba7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bdd1e3ba7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dd1e3ba7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bdd1e3ba7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dd1e3ba7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bdd1e3ba7a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dd1e3ba7a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bdd1e3ba7a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dd1e3ba7a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dd1e3ba7a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dd6dbd3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dd6dbd3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dd1e3ba7a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bdd1e3ba7a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dd1e3ba7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bdd1e3ba7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dd1e3ba7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bdd1e3ba7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dd1e3ba7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bdd1e3ba7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dd1e3ba7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bdd1e3ba7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dd1e3ba7a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dd1e3ba7a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bdd1e3ba7a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bdd1e3ba7a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457201"/>
            <a:ext cx="6507167" cy="2400300"/>
          </a:xfrm>
        </p:spPr>
        <p:txBody>
          <a:bodyPr anchor="b">
            <a:normAutofit/>
          </a:bodyPr>
          <a:lstStyle>
            <a:lvl1pPr algn="ctr">
              <a:defRPr sz="36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0"/>
            <a:ext cx="6507167" cy="1428750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176550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835568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260" y="2481436"/>
            <a:ext cx="6515100" cy="1101600"/>
          </a:xfrm>
        </p:spPr>
        <p:txBody>
          <a:bodyPr anchor="b"/>
          <a:lstStyle>
            <a:lvl1pPr algn="r">
              <a:defRPr sz="3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3258" y="3583036"/>
            <a:ext cx="651510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355091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9" y="2000250"/>
            <a:ext cx="3657600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959" y="2000250"/>
            <a:ext cx="3657600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889176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1961" y="1993899"/>
            <a:ext cx="344169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9" y="2432447"/>
            <a:ext cx="3657600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32350" y="2000250"/>
            <a:ext cx="34532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7959" y="2432447"/>
            <a:ext cx="3657601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215967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501995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42685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2661841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859" y="457201"/>
            <a:ext cx="4457701" cy="38862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2661841" cy="13716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618530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200150"/>
            <a:ext cx="4000501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75300" y="-13716"/>
            <a:ext cx="2457449" cy="517779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2228850"/>
            <a:ext cx="4000501" cy="1371600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9409" y="4412457"/>
            <a:ext cx="685800" cy="273844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56059" y="4412457"/>
            <a:ext cx="382905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6960" y="4412457"/>
            <a:ext cx="2419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284991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549649"/>
            <a:ext cx="7429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47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60" y="3974702"/>
            <a:ext cx="7429500" cy="370284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31378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457201"/>
            <a:ext cx="7429499" cy="2343149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910352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214703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2481436"/>
            <a:ext cx="7429500" cy="110160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3036"/>
            <a:ext cx="7429501" cy="6453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278697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914650"/>
            <a:ext cx="7429500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1400"/>
            <a:ext cx="7429500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0642705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457201"/>
            <a:ext cx="7429499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628900"/>
            <a:ext cx="74295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1180730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8048677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3" y="457200"/>
            <a:ext cx="1657886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9" y="457200"/>
            <a:ext cx="5657850" cy="38862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7118373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42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9" y="2000250"/>
            <a:ext cx="7429499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919131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5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3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350508" y="9017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Presentation</a:t>
            </a:r>
            <a:endParaRPr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ADP1071-1EVALZ</a:t>
            </a:r>
            <a:endParaRPr sz="5600"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672400" y="3641475"/>
            <a:ext cx="7876800" cy="77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3" dirty="0" err="1"/>
              <a:t>רים</a:t>
            </a:r>
            <a:r>
              <a:rPr lang="en" sz="1883" dirty="0"/>
              <a:t> </a:t>
            </a:r>
            <a:r>
              <a:rPr lang="en" sz="1883" dirty="0" err="1"/>
              <a:t>בדוי</a:t>
            </a:r>
            <a:r>
              <a:rPr lang="en" sz="1883" dirty="0"/>
              <a:t> </a:t>
            </a:r>
            <a:r>
              <a:rPr lang="en" sz="1883" dirty="0" err="1"/>
              <a:t>וסלים</a:t>
            </a:r>
            <a:r>
              <a:rPr lang="en" sz="1883" dirty="0"/>
              <a:t> </a:t>
            </a:r>
            <a:r>
              <a:rPr lang="en" sz="1883" dirty="0" err="1"/>
              <a:t>בשארה</a:t>
            </a:r>
            <a:endParaRPr sz="1883"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3" dirty="0" err="1"/>
              <a:t>הצגה</a:t>
            </a:r>
            <a:r>
              <a:rPr lang="en" sz="1883" dirty="0"/>
              <a:t> </a:t>
            </a:r>
            <a:r>
              <a:rPr lang="en" sz="1883" dirty="0" err="1"/>
              <a:t>בתאריך</a:t>
            </a:r>
            <a:r>
              <a:rPr lang="en" sz="1883" dirty="0"/>
              <a:t> 25/01/2026</a:t>
            </a:r>
            <a:r>
              <a:rPr lang="en" sz="2500" dirty="0"/>
              <a:t> </a:t>
            </a:r>
            <a:endParaRPr sz="2500" dirty="0"/>
          </a:p>
        </p:txBody>
      </p:sp>
      <p:pic>
        <p:nvPicPr>
          <p:cNvPr id="3" name="Picture 2" descr="Image result for technion">
            <a:extLst>
              <a:ext uri="{FF2B5EF4-FFF2-40B4-BE49-F238E27FC236}">
                <a16:creationId xmlns:a16="http://schemas.microsoft.com/office/drawing/2014/main" id="{6BD9A586-D3FA-41FE-F576-49C6DD076B8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44"/>
          <a:stretch/>
        </p:blipFill>
        <p:spPr bwMode="auto">
          <a:xfrm>
            <a:off x="7702" y="75464"/>
            <a:ext cx="2093587" cy="9986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1985350" y="2094450"/>
            <a:ext cx="5714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</a:t>
            </a:r>
            <a:r>
              <a:rPr lang="en" sz="2400"/>
              <a:t>ADP1071-1EVALZ?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>
            <a:spLocks noGrp="1"/>
          </p:cNvSpPr>
          <p:nvPr>
            <p:ph type="title"/>
          </p:nvPr>
        </p:nvSpPr>
        <p:spPr>
          <a:xfrm>
            <a:off x="3274350" y="2225400"/>
            <a:ext cx="25953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Project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Progress</a:t>
            </a:r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Datasheet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measurements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Contrast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title"/>
          </p:nvPr>
        </p:nvSpPr>
        <p:spPr>
          <a:xfrm>
            <a:off x="655425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circuit</a:t>
            </a:r>
            <a:endParaRPr/>
          </a:p>
        </p:txBody>
      </p:sp>
      <p:pic>
        <p:nvPicPr>
          <p:cNvPr id="151" name="Google Shape;15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2525" y="240751"/>
            <a:ext cx="6087101" cy="46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>
            <a:spLocks noGrp="1"/>
          </p:cNvSpPr>
          <p:nvPr>
            <p:ph type="title"/>
          </p:nvPr>
        </p:nvSpPr>
        <p:spPr>
          <a:xfrm>
            <a:off x="655425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Side</a:t>
            </a:r>
            <a:endParaRPr/>
          </a:p>
        </p:txBody>
      </p:sp>
      <p:pic>
        <p:nvPicPr>
          <p:cNvPr id="157" name="Google Shape;15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0950" y="1800200"/>
            <a:ext cx="6042450" cy="272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>
            <a:spLocks noGrp="1"/>
          </p:cNvSpPr>
          <p:nvPr>
            <p:ph type="title"/>
          </p:nvPr>
        </p:nvSpPr>
        <p:spPr>
          <a:xfrm>
            <a:off x="655425" y="4473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Secondary Side</a:t>
            </a:r>
            <a:endParaRPr/>
          </a:p>
        </p:txBody>
      </p:sp>
      <p:pic>
        <p:nvPicPr>
          <p:cNvPr id="163" name="Google Shape;1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150" y="1401950"/>
            <a:ext cx="5691575" cy="343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>
            <a:spLocks noGrp="1"/>
          </p:cNvSpPr>
          <p:nvPr>
            <p:ph type="title"/>
          </p:nvPr>
        </p:nvSpPr>
        <p:spPr>
          <a:xfrm>
            <a:off x="655425" y="4473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Controller</a:t>
            </a:r>
            <a:endParaRPr/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9175" y="1328513"/>
            <a:ext cx="5445750" cy="27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1" title="Screen Shot 2025-10-21 at 16.49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000" y="296800"/>
            <a:ext cx="7668001" cy="444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>
            <a:spLocks noGrp="1"/>
          </p:cNvSpPr>
          <p:nvPr>
            <p:ph type="title"/>
          </p:nvPr>
        </p:nvSpPr>
        <p:spPr>
          <a:xfrm>
            <a:off x="3028500" y="2172975"/>
            <a:ext cx="42108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/>
              <a:t>Vout(Vin) - no load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5" name="Google Shape;1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051" y="1844900"/>
            <a:ext cx="4486675" cy="174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1" name="Google Shape;1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196" y="1317350"/>
            <a:ext cx="4583826" cy="2815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0938" y="1317350"/>
            <a:ext cx="3324225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>
            <a:spLocks noGrp="1"/>
          </p:cNvSpPr>
          <p:nvPr>
            <p:ph type="title"/>
          </p:nvPr>
        </p:nvSpPr>
        <p:spPr>
          <a:xfrm>
            <a:off x="483700" y="811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V24(Load)</a:t>
            </a:r>
            <a:endParaRPr/>
          </a:p>
        </p:txBody>
      </p:sp>
      <p:pic>
        <p:nvPicPr>
          <p:cNvPr id="198" name="Google Shape;19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238" y="1751650"/>
            <a:ext cx="7934325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>
            <a:spLocks noGrp="1"/>
          </p:cNvSpPr>
          <p:nvPr>
            <p:ph type="title"/>
          </p:nvPr>
        </p:nvSpPr>
        <p:spPr>
          <a:xfrm>
            <a:off x="819150" y="4671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650" y="684300"/>
            <a:ext cx="6783750" cy="40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0175" y="787801"/>
            <a:ext cx="6025726" cy="399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>
            <a:spLocks noGrp="1"/>
          </p:cNvSpPr>
          <p:nvPr>
            <p:ph type="title"/>
          </p:nvPr>
        </p:nvSpPr>
        <p:spPr>
          <a:xfrm>
            <a:off x="819150" y="6195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15" name="Google Shape;2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075" y="1029078"/>
            <a:ext cx="5169851" cy="31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1B7203-256A-4AE9-F082-199B5AEFC24E}"/>
              </a:ext>
            </a:extLst>
          </p:cNvPr>
          <p:cNvSpPr txBox="1"/>
          <p:nvPr/>
        </p:nvSpPr>
        <p:spPr>
          <a:xfrm>
            <a:off x="2870791" y="467833"/>
            <a:ext cx="3203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Power graph for V</a:t>
            </a:r>
            <a:r>
              <a:rPr lang="he-IL" dirty="0"/>
              <a:t>24</a:t>
            </a:r>
            <a:r>
              <a:rPr lang="en" dirty="0"/>
              <a:t>(Load)</a:t>
            </a:r>
            <a:endParaRPr lang="en-IL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>
            <a:spLocks noGrp="1"/>
          </p:cNvSpPr>
          <p:nvPr>
            <p:ph type="title"/>
          </p:nvPr>
        </p:nvSpPr>
        <p:spPr>
          <a:xfrm>
            <a:off x="600075" y="811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V5.5(Load)</a:t>
            </a:r>
            <a:endParaRPr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2" name="Google Shape;22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75" y="2109788"/>
            <a:ext cx="794385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4850" y="699900"/>
            <a:ext cx="5254300" cy="39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400" y="341425"/>
            <a:ext cx="6924599" cy="446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819150" y="6195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Power graph for V5.5(Load)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39" name="Google Shape;2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222" y="1293847"/>
            <a:ext cx="5664850" cy="34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>
            <a:spLocks noGrp="1"/>
          </p:cNvSpPr>
          <p:nvPr>
            <p:ph type="title"/>
          </p:nvPr>
        </p:nvSpPr>
        <p:spPr>
          <a:xfrm>
            <a:off x="343950" y="130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V-15(Load)</a:t>
            </a:r>
            <a:endParaRPr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6" name="Google Shape;24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150" y="1774788"/>
            <a:ext cx="7886700" cy="8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>
            <a:spLocks noGrp="1"/>
          </p:cNvSpPr>
          <p:nvPr>
            <p:ph type="title"/>
          </p:nvPr>
        </p:nvSpPr>
        <p:spPr>
          <a:xfrm>
            <a:off x="819150" y="5388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675" y="501250"/>
            <a:ext cx="7043126" cy="414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9200" y="682048"/>
            <a:ext cx="5817525" cy="35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Picture 263" descr="Graph on document with pen">
            <a:extLst>
              <a:ext uri="{FF2B5EF4-FFF2-40B4-BE49-F238E27FC236}">
                <a16:creationId xmlns:a16="http://schemas.microsoft.com/office/drawing/2014/main" id="{01366CFC-15E5-09C6-F47D-79F0A87654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2" b="14212"/>
          <a:stretch>
            <a:fillRect/>
          </a:stretch>
        </p:blipFill>
        <p:spPr>
          <a:xfrm>
            <a:off x="20" y="10"/>
            <a:ext cx="9143980" cy="5144472"/>
          </a:xfrm>
          <a:prstGeom prst="rect">
            <a:avLst/>
          </a:prstGeom>
        </p:spPr>
      </p:pic>
      <p:sp>
        <p:nvSpPr>
          <p:cNvPr id="262" name="Google Shape;262;p36"/>
          <p:cNvSpPr txBox="1">
            <a:spLocks noGrp="1"/>
          </p:cNvSpPr>
          <p:nvPr>
            <p:ph type="title"/>
          </p:nvPr>
        </p:nvSpPr>
        <p:spPr>
          <a:xfrm>
            <a:off x="1436346" y="1341340"/>
            <a:ext cx="6270921" cy="157367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 marL="0" lvl="0" indent="0" algn="ctr" defTabSz="914400">
              <a:spcBef>
                <a:spcPct val="0"/>
              </a:spcBef>
              <a:spcAft>
                <a:spcPts val="0"/>
              </a:spcAft>
            </a:pPr>
            <a:r>
              <a:rPr lang="en-US" sz="5000" cap="all"/>
              <a:t>To summarize the results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>
            <a:spLocks noGrp="1"/>
          </p:cNvSpPr>
          <p:nvPr>
            <p:ph type="title"/>
          </p:nvPr>
        </p:nvSpPr>
        <p:spPr>
          <a:xfrm>
            <a:off x="819150" y="17111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phase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>
            <a:spLocks noGrp="1"/>
          </p:cNvSpPr>
          <p:nvPr>
            <p:ph type="title"/>
          </p:nvPr>
        </p:nvSpPr>
        <p:spPr>
          <a:xfrm>
            <a:off x="819150" y="22996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circuit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9"/>
          <p:cNvSpPr txBox="1">
            <a:spLocks noGrp="1"/>
          </p:cNvSpPr>
          <p:nvPr>
            <p:ph type="title"/>
          </p:nvPr>
        </p:nvSpPr>
        <p:spPr>
          <a:xfrm>
            <a:off x="2702600" y="845600"/>
            <a:ext cx="38259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Auxiliary Winding</a:t>
            </a:r>
            <a:endParaRPr/>
          </a:p>
        </p:txBody>
      </p:sp>
      <p:pic>
        <p:nvPicPr>
          <p:cNvPr id="278" name="Google Shape;27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1525" y="1800200"/>
            <a:ext cx="5038725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>
            <a:spLocks noGrp="1"/>
          </p:cNvSpPr>
          <p:nvPr>
            <p:ph type="title"/>
          </p:nvPr>
        </p:nvSpPr>
        <p:spPr>
          <a:xfrm>
            <a:off x="2683350" y="1617150"/>
            <a:ext cx="37773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Spice Simulation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250" y="209250"/>
            <a:ext cx="591279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944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>
            <a:spLocks noGrp="1"/>
          </p:cNvSpPr>
          <p:nvPr>
            <p:ph type="title"/>
          </p:nvPr>
        </p:nvSpPr>
        <p:spPr>
          <a:xfrm>
            <a:off x="2342550" y="2094450"/>
            <a:ext cx="44589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Verifying the schematic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79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>
            <a:spLocks noGrp="1"/>
          </p:cNvSpPr>
          <p:nvPr>
            <p:ph type="title"/>
          </p:nvPr>
        </p:nvSpPr>
        <p:spPr>
          <a:xfrm>
            <a:off x="3055400" y="324450"/>
            <a:ext cx="29238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current</a:t>
            </a:r>
            <a:endParaRPr/>
          </a:p>
        </p:txBody>
      </p:sp>
      <p:pic>
        <p:nvPicPr>
          <p:cNvPr id="309" name="Google Shape;30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612" y="1004550"/>
            <a:ext cx="8490775" cy="376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 txBox="1">
            <a:spLocks noGrp="1"/>
          </p:cNvSpPr>
          <p:nvPr>
            <p:ph type="title"/>
          </p:nvPr>
        </p:nvSpPr>
        <p:spPr>
          <a:xfrm>
            <a:off x="4181700" y="217950"/>
            <a:ext cx="780600" cy="9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r>
              <a:rPr lang="en" baseline="-25000"/>
              <a:t>ds</a:t>
            </a:r>
            <a:r>
              <a:rPr lang="en"/>
              <a:t> </a:t>
            </a:r>
            <a:endParaRPr/>
          </a:p>
        </p:txBody>
      </p:sp>
      <p:pic>
        <p:nvPicPr>
          <p:cNvPr id="315" name="Google Shape;31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325" y="957675"/>
            <a:ext cx="8125343" cy="360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>
            <a:spLocks noGrp="1"/>
          </p:cNvSpPr>
          <p:nvPr>
            <p:ph type="title"/>
          </p:nvPr>
        </p:nvSpPr>
        <p:spPr>
          <a:xfrm>
            <a:off x="1359225" y="314975"/>
            <a:ext cx="61929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Diode voltage on the 24V output</a:t>
            </a:r>
            <a:endParaRPr/>
          </a:p>
        </p:txBody>
      </p:sp>
      <p:pic>
        <p:nvPicPr>
          <p:cNvPr id="321" name="Google Shape;32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75" y="1128225"/>
            <a:ext cx="7985656" cy="35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8"/>
          <p:cNvSpPr txBox="1">
            <a:spLocks noGrp="1"/>
          </p:cNvSpPr>
          <p:nvPr>
            <p:ph type="title"/>
          </p:nvPr>
        </p:nvSpPr>
        <p:spPr>
          <a:xfrm>
            <a:off x="1359225" y="314975"/>
            <a:ext cx="61929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Diode voltage on the 5.5V output</a:t>
            </a:r>
            <a:endParaRPr/>
          </a:p>
        </p:txBody>
      </p:sp>
      <p:pic>
        <p:nvPicPr>
          <p:cNvPr id="327" name="Google Shape;32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075" y="881875"/>
            <a:ext cx="8585948" cy="382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>
            <a:spLocks noGrp="1"/>
          </p:cNvSpPr>
          <p:nvPr>
            <p:ph type="title"/>
          </p:nvPr>
        </p:nvSpPr>
        <p:spPr>
          <a:xfrm>
            <a:off x="1276729" y="402796"/>
            <a:ext cx="6496594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Diode voltage on the -15V output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33" name="Google Shape;33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825" y="1175600"/>
            <a:ext cx="8290402" cy="369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0"/>
          <p:cNvSpPr txBox="1">
            <a:spLocks noGrp="1"/>
          </p:cNvSpPr>
          <p:nvPr>
            <p:ph type="title"/>
          </p:nvPr>
        </p:nvSpPr>
        <p:spPr>
          <a:xfrm>
            <a:off x="2136274" y="447625"/>
            <a:ext cx="5515355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Auxiliary winding current</a:t>
            </a:r>
            <a:endParaRPr dirty="0"/>
          </a:p>
        </p:txBody>
      </p:sp>
      <p:pic>
        <p:nvPicPr>
          <p:cNvPr id="339" name="Google Shape;3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550" y="1128225"/>
            <a:ext cx="8328298" cy="37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75" y="509825"/>
            <a:ext cx="8224899" cy="36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2"/>
          <p:cNvSpPr txBox="1">
            <a:spLocks noGrp="1"/>
          </p:cNvSpPr>
          <p:nvPr>
            <p:ph type="title"/>
          </p:nvPr>
        </p:nvSpPr>
        <p:spPr>
          <a:xfrm>
            <a:off x="2370600" y="470725"/>
            <a:ext cx="44028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Auxiliary winding voltage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0" name="Google Shape;3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75" y="1037200"/>
            <a:ext cx="8260276" cy="36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>
            <a:spLocks noGrp="1"/>
          </p:cNvSpPr>
          <p:nvPr>
            <p:ph type="title"/>
          </p:nvPr>
        </p:nvSpPr>
        <p:spPr>
          <a:xfrm>
            <a:off x="949925" y="18568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the auxiliary winding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4"/>
          <p:cNvSpPr txBox="1">
            <a:spLocks noGrp="1"/>
          </p:cNvSpPr>
          <p:nvPr>
            <p:ph type="title"/>
          </p:nvPr>
        </p:nvSpPr>
        <p:spPr>
          <a:xfrm>
            <a:off x="2676050" y="470725"/>
            <a:ext cx="4147444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Output Voltages</a:t>
            </a:r>
            <a:endParaRPr dirty="0"/>
          </a:p>
        </p:txBody>
      </p:sp>
      <p:pic>
        <p:nvPicPr>
          <p:cNvPr id="361" name="Google Shape;36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325" y="1124400"/>
            <a:ext cx="8460777" cy="374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5"/>
          <p:cNvSpPr txBox="1">
            <a:spLocks noGrp="1"/>
          </p:cNvSpPr>
          <p:nvPr>
            <p:ph type="title"/>
          </p:nvPr>
        </p:nvSpPr>
        <p:spPr>
          <a:xfrm>
            <a:off x="3055400" y="324450"/>
            <a:ext cx="3888864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Primary current</a:t>
            </a:r>
            <a:endParaRPr dirty="0"/>
          </a:p>
        </p:txBody>
      </p:sp>
      <p:pic>
        <p:nvPicPr>
          <p:cNvPr id="367" name="Google Shape;36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825" y="1004550"/>
            <a:ext cx="8604339" cy="383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6"/>
          <p:cNvSpPr txBox="1">
            <a:spLocks noGrp="1"/>
          </p:cNvSpPr>
          <p:nvPr>
            <p:ph type="title"/>
          </p:nvPr>
        </p:nvSpPr>
        <p:spPr>
          <a:xfrm>
            <a:off x="4105025" y="343400"/>
            <a:ext cx="7560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r>
              <a:rPr lang="en" baseline="-25000"/>
              <a:t>ds</a:t>
            </a:r>
            <a:endParaRPr/>
          </a:p>
        </p:txBody>
      </p:sp>
      <p:pic>
        <p:nvPicPr>
          <p:cNvPr id="373" name="Google Shape;37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300" y="1071375"/>
            <a:ext cx="7883458" cy="354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7"/>
          <p:cNvSpPr txBox="1">
            <a:spLocks noGrp="1"/>
          </p:cNvSpPr>
          <p:nvPr>
            <p:ph type="title"/>
          </p:nvPr>
        </p:nvSpPr>
        <p:spPr>
          <a:xfrm>
            <a:off x="1556488" y="352875"/>
            <a:ext cx="54159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Diode voltage on the 24V output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9" name="Google Shape;37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200" y="1412475"/>
            <a:ext cx="7674477" cy="342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8"/>
          <p:cNvSpPr txBox="1">
            <a:spLocks noGrp="1"/>
          </p:cNvSpPr>
          <p:nvPr>
            <p:ph type="title"/>
          </p:nvPr>
        </p:nvSpPr>
        <p:spPr>
          <a:xfrm>
            <a:off x="3512850" y="2094450"/>
            <a:ext cx="21183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{7E12C236-7C21-3047-9993-D10ED3CBF626}tf10001063</Template>
  <TotalTime>525</TotalTime>
  <Words>133</Words>
  <Application>Microsoft Office PowerPoint</Application>
  <PresentationFormat>‫הצגה על המסך (16:9)</PresentationFormat>
  <Paragraphs>45</Paragraphs>
  <Slides>46</Slides>
  <Notes>46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46</vt:i4>
      </vt:variant>
    </vt:vector>
  </HeadingPairs>
  <TitlesOfParts>
    <vt:vector size="49" baseType="lpstr">
      <vt:lpstr>Arial</vt:lpstr>
      <vt:lpstr>Century Gothic</vt:lpstr>
      <vt:lpstr>Mesh</vt:lpstr>
      <vt:lpstr>Final Presentation  ADP1071-1EVALZ</vt:lpstr>
      <vt:lpstr>What is the ADP1071-1EVALZ? </vt:lpstr>
      <vt:lpstr>Our Project</vt:lpstr>
      <vt:lpstr>Our Progress</vt:lpstr>
      <vt:lpstr>Device  circuit</vt:lpstr>
      <vt:lpstr>Primary Side</vt:lpstr>
      <vt:lpstr>Secondary Side</vt:lpstr>
      <vt:lpstr>Controller</vt:lpstr>
      <vt:lpstr>מצגת של PowerPoint‏</vt:lpstr>
      <vt:lpstr>Measurements</vt:lpstr>
      <vt:lpstr>Vout(Vin) - no load  </vt:lpstr>
      <vt:lpstr>מצגת של PowerPoint‏</vt:lpstr>
      <vt:lpstr>V24(Load)</vt:lpstr>
      <vt:lpstr> </vt:lpstr>
      <vt:lpstr>מצגת של PowerPoint‏</vt:lpstr>
      <vt:lpstr> </vt:lpstr>
      <vt:lpstr>V5.5(Load) </vt:lpstr>
      <vt:lpstr> </vt:lpstr>
      <vt:lpstr>מצגת של PowerPoint‏</vt:lpstr>
      <vt:lpstr>Power graph for V5.5(Load)   </vt:lpstr>
      <vt:lpstr>V-15(Load) </vt:lpstr>
      <vt:lpstr>  </vt:lpstr>
      <vt:lpstr>מצגת של PowerPoint‏</vt:lpstr>
      <vt:lpstr>To summarize the results </vt:lpstr>
      <vt:lpstr>Next phase</vt:lpstr>
      <vt:lpstr>Understanding the circuit</vt:lpstr>
      <vt:lpstr>Auxiliary Winding</vt:lpstr>
      <vt:lpstr>Spice Simulation</vt:lpstr>
      <vt:lpstr>מצגת של PowerPoint‏</vt:lpstr>
      <vt:lpstr>מצגת של PowerPoint‏</vt:lpstr>
      <vt:lpstr>Verifying the schematic</vt:lpstr>
      <vt:lpstr>מצגת של PowerPoint‏</vt:lpstr>
      <vt:lpstr>Primary current</vt:lpstr>
      <vt:lpstr>Vds </vt:lpstr>
      <vt:lpstr>Diode voltage on the 24V output</vt:lpstr>
      <vt:lpstr>Diode voltage on the 5.5V output</vt:lpstr>
      <vt:lpstr>Diode voltage on the -15V output </vt:lpstr>
      <vt:lpstr>Auxiliary winding current</vt:lpstr>
      <vt:lpstr>מצגת של PowerPoint‏</vt:lpstr>
      <vt:lpstr>Auxiliary winding voltage </vt:lpstr>
      <vt:lpstr>Removing the auxiliary winding</vt:lpstr>
      <vt:lpstr>Output Voltages</vt:lpstr>
      <vt:lpstr>Primary current</vt:lpstr>
      <vt:lpstr>Vds</vt:lpstr>
      <vt:lpstr>Diode voltage on the 24V output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  ADP1071-1EVALZ</dc:title>
  <cp:lastModifiedBy>Salim Bshara</cp:lastModifiedBy>
  <cp:revision>4</cp:revision>
  <dcterms:modified xsi:type="dcterms:W3CDTF">2026-02-15T18:10:05Z</dcterms:modified>
</cp:coreProperties>
</file>